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</ns0:sldIdLst>
  <ns0:sldSz cx="12192000" cy="6858000" type="screen4x3"/>
  <ns0:notesSz cx="6858000" cy="9144000"/>
  <ns0:embeddedFontLst>
    <ns0:embeddedFont>
      <ns0:font typeface="Inter"/>
      <ns0:bold ns1:id="rIdFont14"/>
      <ns0:regular ns1:id="rIdFont15"/>
    </ns0:embeddedFont>
    <ns0:embeddedFont>
      <ns0:font typeface="Fraunces"/>
      <ns0:bold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Font14" Type="http://schemas.openxmlformats.org/officeDocument/2006/relationships/font" Target="fonts/0abf64e4-c07c-4a4e-ac9c-6fce72a6a3e7.fntdata" /><ns0:Relationship Id="rIdFont15" Type="http://schemas.openxmlformats.org/officeDocument/2006/relationships/font" Target="fonts/1f7e0580-be09-41af-bc53-19956aebabab.fntdata" /><ns0:Relationship Id="rIdFont16" Type="http://schemas.openxmlformats.org/officeDocument/2006/relationships/font" Target="fonts/d0e922cf-18fe-499e-9a4f-89181b11fcc6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3766244"/>
            <a:ext cx="609600" cy="38100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72270" cy="171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2204144"/>
            <a:ext cx="533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A441"/>
                </a:solidFill>
                <a:latin typeface="Inter"/>
              </a:rPr>
              <a:t>BANAO IMAGINATHON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623244"/>
            <a:ext cx="5334000" cy="838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b="1" sz="6000" i="0" u="none">
                <a:solidFill>
                  <a:srgbClr val="F5EDE0"/>
                </a:solidFill>
                <a:latin typeface="Fraunces"/>
              </a:rPr>
              <a:t>Hurmitch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4109144"/>
            <a:ext cx="5334000" cy="373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b="0" sz="2100" i="0" u="none">
                <a:solidFill>
                  <a:srgbClr val="F5EDE0"/>
                </a:solidFill>
                <a:latin typeface="Inter"/>
              </a:rPr>
              <a:t>Project Blueprint &amp; Technical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482405"/>
            <a:ext cx="5334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Times New Roman"/>
              </a:rPr>
              <a:t>By Sahiqua Majid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F1E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36464"/>
            <a:ext cx="381000" cy="12419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973734"/>
            <a:ext cx="304800" cy="12419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4711005"/>
            <a:ext cx="228600" cy="9486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685157"/>
            <a:ext cx="4191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1502E"/>
                </a:solidFill>
                <a:latin typeface="Inter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999482"/>
            <a:ext cx="3620452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7A2E2E"/>
                </a:solidFill>
                <a:latin typeface="Fraunces"/>
              </a:rPr>
              <a:t>The Market Disconnect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1198364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7A2E2E"/>
                </a:solidFill>
                <a:latin typeface="Fraunces"/>
              </a:rPr>
              <a:t>Middleman Extraction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1598414"/>
            <a:ext cx="5429250" cy="88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2B2118"/>
                </a:solidFill>
                <a:latin typeface="Inter"/>
              </a:rPr>
              <a:t>Skilled karhai artisans lack direct market access, forcing reliance on local dealers who capture maximum profit margins.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0" y="2935634"/>
            <a:ext cx="61722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7A2E2E"/>
                </a:solidFill>
                <a:latin typeface="Fraunces"/>
              </a:rPr>
              <a:t>Isolated from 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800" y="3335684"/>
            <a:ext cx="5505450" cy="88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2B2118"/>
                </a:solidFill>
                <a:latin typeface="Inter"/>
              </a:rPr>
              <a:t>Rural creators produce internationally recognized mirror-work but remain entirely cut off from urban demand.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4672905"/>
            <a:ext cx="61722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7A2E2E"/>
                </a:solidFill>
                <a:latin typeface="Fraunces"/>
              </a:rPr>
              <a:t>Technology Barriers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9800" y="5072955"/>
            <a:ext cx="55054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2B2118"/>
                </a:solidFill>
                <a:latin typeface="Inter"/>
              </a:rPr>
              <a:t>Traditional text-heavy, English-based e-commerce platforms completely block non-technical rural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2495550"/>
            <a:ext cx="3302049" cy="323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45049" y="2495550"/>
            <a:ext cx="3302049" cy="323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99" y="2495550"/>
            <a:ext cx="3302049" cy="3238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495550"/>
            <a:ext cx="3302049" cy="38100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45049" y="2495550"/>
            <a:ext cx="3302049" cy="3810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99" y="2495550"/>
            <a:ext cx="3302049" cy="3810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50" y="2990850"/>
            <a:ext cx="7620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990850"/>
            <a:ext cx="762000" cy="762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49" y="2990850"/>
            <a:ext cx="7620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8650" y="3067050"/>
            <a:ext cx="2286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3219450"/>
            <a:ext cx="3810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6649" y="3048000"/>
            <a:ext cx="304800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762000"/>
            <a:ext cx="11430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1502E"/>
                </a:solidFill>
                <a:latin typeface="Inter"/>
              </a:rPr>
              <a:t>THE HURMITCH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076325"/>
            <a:ext cx="11430000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7A2E2E"/>
                </a:solidFill>
                <a:latin typeface="Fraunces"/>
              </a:rPr>
              <a:t>Bridging the Craft 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04" y="3676650"/>
            <a:ext cx="353384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7A2E2E"/>
                </a:solidFill>
                <a:latin typeface="Fraunces"/>
              </a:rPr>
              <a:t>Voice-First Onboarding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243" y="4476750"/>
            <a:ext cx="3365562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2B2118"/>
                </a:solidFill>
                <a:latin typeface="Inter"/>
              </a:rPr>
              <a:t>Artisans list their own work using native audio and a phone camera.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0809" y="3981450"/>
            <a:ext cx="305038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7A2E2E"/>
                </a:solidFill>
                <a:latin typeface="Fraunces"/>
              </a:rPr>
              <a:t>Direct Storefront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3293" y="4457700"/>
            <a:ext cx="3365562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2B2118"/>
                </a:solidFill>
                <a:latin typeface="Inter"/>
              </a:rPr>
              <a:t>Public catalog displays items with transparent price breakdowns.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2203" y="3676650"/>
            <a:ext cx="353384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7A2E2E"/>
                </a:solidFill>
                <a:latin typeface="Fraunces"/>
              </a:rPr>
              <a:t>Frictionless Ordering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343" y="4476750"/>
            <a:ext cx="3365562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2B2118"/>
                </a:solidFill>
                <a:latin typeface="Inter"/>
              </a:rPr>
              <a:t>Facilitates seamless, direct-to-artisan ordering via WhatsApp.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2457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2500" y="400228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2500" y="5547121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" y="762000"/>
            <a:ext cx="11239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1502E"/>
                </a:solidFill>
                <a:latin typeface="Inter"/>
              </a:rPr>
              <a:t>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1076325"/>
            <a:ext cx="11239500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7A2E2E"/>
                </a:solidFill>
                <a:latin typeface="Fraunces"/>
              </a:rPr>
              <a:t>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43150"/>
            <a:ext cx="10820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7A2E2E"/>
                </a:solidFill>
                <a:latin typeface="Fraunces"/>
              </a:rPr>
              <a:t>Buyer-Facing Storefront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90825"/>
            <a:ext cx="99631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2B2118"/>
                </a:solidFill>
                <a:latin typeface="Inter"/>
              </a:rPr>
              <a:t>Responsive React application mixing real live Firestore submissions and static sample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87985"/>
            <a:ext cx="10820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7A2E2E"/>
                </a:solidFill>
                <a:latin typeface="Fraunces"/>
              </a:rPr>
              <a:t>Dedicated AI Agent PWA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335660"/>
            <a:ext cx="996315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2B2118"/>
                </a:solidFill>
                <a:latin typeface="Inter"/>
              </a:rPr>
              <a:t>Standalone voice-first mobile interface featuring native media capture and localized Urdu UI.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32821"/>
            <a:ext cx="10820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7A2E2E"/>
                </a:solidFill>
                <a:latin typeface="Fraunces"/>
              </a:rPr>
              <a:t>Secure Serverless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880496"/>
            <a:ext cx="108204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2B2118"/>
                </a:solidFill>
                <a:latin typeface="Inter"/>
              </a:rPr>
              <a:t>Backend proxies isolating sensitive Gemini API keys completely from the client side.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" y="2272605"/>
            <a:ext cx="10287000" cy="4457700"/>
          </a:xfrm>
          <a:prstGeom prst="rect">
            <a:avLst/>
          </a:prstGeom>
          <a:solidFill>
            <a:srgbClr val="E1D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38575" y="762000"/>
            <a:ext cx="2305050" cy="901005"/>
          </a:xfrm>
          <a:prstGeom prst="roundRect">
            <a:avLst>
              <a:gd name="adj" fmla="val 8457"/>
            </a:avLst>
          </a:prstGeom>
          <a:solidFill>
            <a:srgbClr val="F1E2C8"/>
          </a:solidFill>
          <a:ln w="9525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00" y="2272605"/>
            <a:ext cx="10287000" cy="104775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500" y="3339405"/>
            <a:ext cx="10287000" cy="762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2500" y="4120455"/>
            <a:ext cx="10287000" cy="762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2500" y="4901505"/>
            <a:ext cx="10287000" cy="104775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500" y="5968305"/>
            <a:ext cx="10287000" cy="762000"/>
          </a:xfrm>
          <a:prstGeom prst="rect">
            <a:avLst/>
          </a:prstGeom>
          <a:solidFill>
            <a:srgbClr val="F5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762000"/>
            <a:ext cx="3607593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1502E"/>
                </a:solidFill>
                <a:latin typeface="Inter"/>
              </a:rPr>
              <a:t>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1076325"/>
            <a:ext cx="3787973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7A2E2E"/>
                </a:solidFill>
                <a:latin typeface="Fraunces"/>
              </a:rP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6700" y="885825"/>
            <a:ext cx="2286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2B2118"/>
                </a:solidFill>
                <a:latin typeface="Inter"/>
              </a:rPr>
              <a:t>$0 Budget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501205"/>
            <a:ext cx="432554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C1502E"/>
                </a:solidFill>
                <a:latin typeface="Fraunces"/>
              </a:rPr>
              <a:t>Frontend &amp;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2950" y="2501205"/>
            <a:ext cx="67818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2B2118"/>
                </a:solidFill>
                <a:latin typeface="Inter"/>
              </a:rPr>
              <a:t>React, Vite, Tailwind CSS v4, react-router-dom, vite-plugin-pwa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568005"/>
            <a:ext cx="432554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C1502E"/>
                </a:solidFill>
                <a:latin typeface="Fraunces"/>
              </a:rPr>
              <a:t>Database &amp;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950" y="3568005"/>
            <a:ext cx="76390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2B2118"/>
                </a:solidFill>
                <a:latin typeface="Inter"/>
              </a:rPr>
              <a:t>Firebase Firestore (Spark Plan)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349055"/>
            <a:ext cx="432554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C1502E"/>
                </a:solidFill>
                <a:latin typeface="Fraunces"/>
              </a:rPr>
              <a:t>Image 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2950" y="4349055"/>
            <a:ext cx="76390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2B2118"/>
                </a:solidFill>
                <a:latin typeface="Inter"/>
              </a:rPr>
              <a:t>Cloudinary (unsigned upload preset)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5130105"/>
            <a:ext cx="432554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C1502E"/>
                </a:solidFill>
                <a:latin typeface="Fraunces"/>
              </a:rPr>
              <a:t>AI Capabilities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2950" y="5130105"/>
            <a:ext cx="67818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2B2118"/>
                </a:solidFill>
                <a:latin typeface="Inter"/>
              </a:rPr>
              <a:t>Gemini 3.8 Flash (Parsing) &amp; Gemini 3.8 Flash-TTS (Urdu Speech)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6196905"/>
            <a:ext cx="432554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C1502E"/>
                </a:solidFill>
                <a:latin typeface="Fraunces"/>
              </a:rPr>
              <a:t>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950" y="6196905"/>
            <a:ext cx="76390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2B2118"/>
                </a:solidFill>
                <a:latin typeface="Inter"/>
              </a:rPr>
              <a:t>Vercel via GitHub auto-deployment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68909" y="2352675"/>
            <a:ext cx="304800" cy="1905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85419" y="2352675"/>
            <a:ext cx="304800" cy="1905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01929" y="2352675"/>
            <a:ext cx="304800" cy="1905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439" y="2352675"/>
            <a:ext cx="304800" cy="1905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96280" y="20859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12790" y="20859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29300" y="20859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45809" y="20859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62319" y="20859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762000"/>
            <a:ext cx="1158240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7A2E2E"/>
                </a:solidFill>
                <a:latin typeface="Fraunces"/>
              </a:rPr>
              <a:t>Agent Workflow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3405" y="2085975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5EDE0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118" y="2847975"/>
            <a:ext cx="178772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7A2E2E"/>
                </a:solidFill>
                <a:latin typeface="Fraunces"/>
              </a:rPr>
              <a:t>Initialization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36" y="3228975"/>
            <a:ext cx="2133637" cy="853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2B2118"/>
                </a:solidFill>
                <a:latin typeface="Inter"/>
              </a:rPr>
              <a:t>Localized Urdu greeting generated dynamically via Gemini TTS.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9915" y="2085975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5EDE0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3114" y="2847975"/>
            <a:ext cx="201275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7A2E2E"/>
                </a:solidFill>
                <a:latin typeface="Fraunces"/>
              </a:rPr>
              <a:t>Media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2746" y="3228975"/>
            <a:ext cx="2133637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2B2118"/>
                </a:solidFill>
                <a:latin typeface="Inter"/>
              </a:rPr>
              <a:t>Native voice note and product photo recording.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6425" y="2085975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211812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9630" y="2847975"/>
            <a:ext cx="191273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7A2E2E"/>
                </a:solidFill>
                <a:latin typeface="Fraunces"/>
              </a:rPr>
              <a:t>AI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55" y="3228975"/>
            <a:ext cx="2133637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2B2118"/>
                </a:solidFill>
                <a:latin typeface="Inter"/>
              </a:rPr>
              <a:t>Gemini transcribes audio and extracts structured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934" y="2085975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5EDE0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2424" y="2847975"/>
            <a:ext cx="2240319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7A2E2E"/>
                </a:solidFill>
                <a:latin typeface="Fraunces"/>
              </a:rPr>
              <a:t>Review &amp; 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5765" y="3495675"/>
            <a:ext cx="2133637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2B2118"/>
                </a:solidFill>
                <a:latin typeface="Inter"/>
              </a:rPr>
              <a:t>Single-tap Urdu confirmation screen before publishing.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9444" y="2085975"/>
            <a:ext cx="8191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5EDE0"/>
                </a:solidFill>
                <a:latin typeface="Inte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83926" y="2847975"/>
            <a:ext cx="149018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7A2E2E"/>
                </a:solidFill>
                <a:latin typeface="Fraunces"/>
              </a:rPr>
              <a:t>Publishing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2275" y="3228975"/>
            <a:ext cx="2133637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200" i="0" u="none">
                <a:solidFill>
                  <a:srgbClr val="2B2118"/>
                </a:solidFill>
                <a:latin typeface="Inter"/>
              </a:rPr>
              <a:t>Cloudinary upload and live Firestore catalog population.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33500" y="4395936"/>
            <a:ext cx="3022550" cy="1443632"/>
          </a:xfrm>
          <a:prstGeom prst="roundRect">
            <a:avLst>
              <a:gd name="adj" fmla="val 7917"/>
            </a:avLst>
          </a:prstGeom>
          <a:solidFill>
            <a:srgbClr val="2C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84650" y="4395936"/>
            <a:ext cx="3022550" cy="1443632"/>
          </a:xfrm>
          <a:prstGeom prst="roundRect">
            <a:avLst>
              <a:gd name="adj" fmla="val 7917"/>
            </a:avLst>
          </a:prstGeom>
          <a:solidFill>
            <a:srgbClr val="2C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35800" y="4395936"/>
            <a:ext cx="3022550" cy="1443632"/>
          </a:xfrm>
          <a:prstGeom prst="roundRect">
            <a:avLst>
              <a:gd name="adj" fmla="val 7917"/>
            </a:avLst>
          </a:prstGeom>
          <a:solidFill>
            <a:srgbClr val="2C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33500" y="4395936"/>
            <a:ext cx="38100" cy="1443632"/>
          </a:xfrm>
          <a:prstGeom prst="rect">
            <a:avLst/>
          </a:prstGeom>
          <a:solidFill>
            <a:srgbClr val="C1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84650" y="4395936"/>
            <a:ext cx="38100" cy="1443632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35800" y="4395936"/>
            <a:ext cx="38100" cy="1443632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018430"/>
            <a:ext cx="457200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9562" y="1932830"/>
            <a:ext cx="3952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D9A441"/>
                </a:solidFill>
                <a:latin typeface="Inter"/>
              </a:rPr>
              <a:t>IMPORTANT NOTE FOR JUDGES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9305" y="2285255"/>
            <a:ext cx="7113389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b="1" sz="4200" i="0" u="none">
                <a:solidFill>
                  <a:srgbClr val="F5EDE0"/>
                </a:solidFill>
                <a:latin typeface="Fraunces"/>
              </a:rPr>
              <a:t>Testing the 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3252936"/>
            <a:ext cx="9525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F5EDE0"/>
                </a:solidFill>
                <a:latin typeface="Inter"/>
              </a:rPr>
              <a:t>Prototype architecture deliberately separates buyer storefront from artisan agent. There is no direct link from the main website navigation.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624536"/>
            <a:ext cx="3159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D9A441"/>
                </a:solidFill>
                <a:latin typeface="Inter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891236"/>
            <a:ext cx="26225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F5EDE0"/>
                </a:solidFill>
                <a:latin typeface="Inter"/>
              </a:rPr>
              <a:t>Open </a:t>
            </a:r>
            <a:r>
              <a:rPr b="1" sz="1350" i="0" u="none">
                <a:solidFill>
                  <a:srgbClr val="F5EDE0"/>
                </a:solidFill>
                <a:latin typeface="Inter"/>
              </a:rPr>
              <a:t>hurmitch.vercel.app/agent</a:t>
            </a:r>
            <a:r>
              <a:rPr b="0" sz="1350" i="0" u="none">
                <a:solidFill>
                  <a:srgbClr val="F5EDE0"/>
                </a:solidFill>
                <a:latin typeface="Inter"/>
              </a:rPr>
              <a:t> on a mobile device browser.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1350" y="4624536"/>
            <a:ext cx="3159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D9A441"/>
                </a:solidFill>
                <a:latin typeface="Inter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1350" y="4891236"/>
            <a:ext cx="2622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F5EDE0"/>
                </a:solidFill>
                <a:latin typeface="Inter"/>
              </a:rPr>
              <a:t>Open your browser menu and tap </a:t>
            </a:r>
            <a:r>
              <a:rPr b="1" sz="1350" i="0" u="none">
                <a:solidFill>
                  <a:srgbClr val="F5EDE0"/>
                </a:solidFill>
                <a:latin typeface="Inter"/>
              </a:rPr>
              <a:t>"Add to Home Screen"</a:t>
            </a:r>
            <a:r>
              <a:rPr b="0" sz="1350" i="0" u="none">
                <a:solidFill>
                  <a:srgbClr val="F5EDE0"/>
                </a:solidFill>
                <a:latin typeface="Inter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2500" y="4624536"/>
            <a:ext cx="31590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D9A441"/>
                </a:solidFill>
                <a:latin typeface="Inter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2500" y="4891236"/>
            <a:ext cx="26225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F5EDE0"/>
                </a:solidFill>
                <a:latin typeface="Inter"/>
              </a:rPr>
              <a:t>Launch PWA to trigger the voice-first onboarding 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